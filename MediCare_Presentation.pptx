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37360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06039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43400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212079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080759"/>
            <a:ext cx="12191695" cy="9144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097280"/>
            <a:ext cx="8534095" cy="4572000"/>
          </a:xfrm>
          <a:prstGeom prst="rect">
            <a:avLst/>
          </a:prstGeom>
          <a:solidFill>
            <a:srgbClr val="1C1C30"/>
          </a:solidFill>
          <a:ln w="1270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1097280"/>
            <a:ext cx="8534095" cy="36576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1207008"/>
            <a:ext cx="164592" cy="164592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1207008"/>
            <a:ext cx="164592" cy="164592"/>
          </a:xfrm>
          <a:prstGeom prst="rect">
            <a:avLst/>
          </a:prstGeom>
          <a:solidFill>
            <a:srgbClr val="FFE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207008"/>
            <a:ext cx="164592" cy="164592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73736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DCFF"/>
                </a:solidFill>
                <a:latin typeface="Consolas"/>
              </a:defRPr>
            </a:pPr>
            <a:r>
              <a:t>MediCare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65176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82"/>
                </a:solidFill>
                <a:latin typeface="Consolas"/>
              </a:defRPr>
            </a:pPr>
            <a:r>
              <a:t>// Console-Based Hospital Management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291840"/>
            <a:ext cx="5790895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52044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91A5"/>
                </a:solidFill>
                <a:latin typeface="Consolas"/>
              </a:defRPr>
            </a:pPr>
            <a:r>
              <a:t>Java 17  ·  MongoDB Atlas  ·  Maven  ·  Layered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114800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3D2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34840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A"/>
                </a:solidFill>
                <a:latin typeface="Calibri"/>
              </a:defRPr>
            </a:pPr>
            <a:r>
              <a:t>SRM University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937760"/>
            <a:ext cx="5790895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074920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CFF"/>
                </a:solidFill>
                <a:latin typeface="Calibri"/>
              </a:defRPr>
            </a:pPr>
            <a:r>
              <a:t>Prabhat Arora  |  Reg. No.: 06  |  AI/ML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394960"/>
            <a:ext cx="7619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Subject: Advanced Programming 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1E"/>
                </a:solidFill>
                <a:latin typeface="Consolas"/>
              </a:defRPr>
            </a:pPr>
            <a: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A"/>
                </a:solidFill>
                <a:latin typeface="Consolas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36576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solidFill>
            <a:srgbClr val="3C141E"/>
          </a:solidFill>
          <a:ln w="12700">
            <a:solidFill>
              <a:srgbClr val="FF3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99971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A"/>
                </a:solidFill>
                <a:latin typeface="Calibri"/>
              </a:defRPr>
            </a:pPr>
            <a:r>
              <a:t>⚠  Hospitals still rely on manual, paper-based systems for appointment booking and prescription management — leading to inefficiencies, scheduling conflicts, and poor patient experience.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5771" y="2560320"/>
            <a:ext cx="2377440" cy="1188720"/>
          </a:xfrm>
          <a:prstGeom prst="rect">
            <a:avLst/>
          </a:prstGeom>
          <a:solidFill>
            <a:srgbClr val="1C1C30"/>
          </a:solidFill>
          <a:ln w="12700">
            <a:solidFill>
              <a:srgbClr val="FF3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7211" y="2651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3278"/>
                </a:solidFill>
                <a:latin typeface="Consolas"/>
              </a:defRPr>
            </a:pPr>
            <a:r>
              <a:t>24+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211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days avg wait</a:t>
            </a:r>
            <a:br/>
            <a:r>
              <a:t>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6675" y="2560320"/>
            <a:ext cx="2377440" cy="1188720"/>
          </a:xfrm>
          <a:prstGeom prst="rect">
            <a:avLst/>
          </a:prstGeom>
          <a:solidFill>
            <a:srgbClr val="1C1C30"/>
          </a:solidFill>
          <a:ln w="1270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8115" y="2651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A032"/>
                </a:solidFill>
                <a:latin typeface="Consolas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8115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scheduling</a:t>
            </a:r>
            <a:br/>
            <a:r>
              <a:t>conflicts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7579" y="2560320"/>
            <a:ext cx="2377440" cy="1188720"/>
          </a:xfrm>
          <a:prstGeom prst="rect">
            <a:avLst/>
          </a:prstGeom>
          <a:solidFill>
            <a:srgbClr val="1C1C30"/>
          </a:solidFill>
          <a:ln w="12700">
            <a:solidFill>
              <a:srgbClr val="FFE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9019" y="2651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E632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9019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prescriptions</a:t>
            </a:r>
            <a:br/>
            <a:r>
              <a:t>lost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98483" y="2560320"/>
            <a:ext cx="2377440" cy="1188720"/>
          </a:xfrm>
          <a:prstGeom prst="rect">
            <a:avLst/>
          </a:prstGeom>
          <a:solidFill>
            <a:srgbClr val="1C1C30"/>
          </a:solidFill>
          <a:ln w="1270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9923" y="2651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A050FF"/>
                </a:solidFill>
                <a:latin typeface="Consolas"/>
              </a:defRPr>
            </a:pPr>
            <a: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9923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admin time</a:t>
            </a:r>
            <a:br/>
            <a:r>
              <a:t>wasted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FF"/>
                </a:solidFill>
                <a:latin typeface="Consolas"/>
              </a:defRPr>
            </a:pPr>
            <a:r>
              <a:t>WHO IS AFFECTED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5029200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5029200" cy="54864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Doctors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1A5"/>
                </a:solidFill>
                <a:latin typeface="Calibri"/>
              </a:defRPr>
            </a:pPr>
            <a:r>
              <a:t>Cannot efficiently manage time slots &amp; patient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166360"/>
            <a:ext cx="5029200" cy="54864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1A5"/>
                </a:solidFill>
                <a:latin typeface="Calibri"/>
              </a:defRPr>
            </a:pPr>
            <a:r>
              <a:t>Face long wait times, no real-time availability info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806440"/>
            <a:ext cx="5029200" cy="54864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521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Admin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807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91A5"/>
                </a:solidFill>
                <a:latin typeface="Calibri"/>
              </a:defRPr>
            </a:pPr>
            <a:r>
              <a:t>Struggle with record-keeping &amp; scheduling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023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278"/>
                </a:solidFill>
                <a:latin typeface="Consolas"/>
              </a:defRPr>
            </a:pPr>
            <a:r>
              <a:t>KEY PAIN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343400"/>
            <a:ext cx="5212080" cy="36576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4805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FF3278"/>
                </a:solidFill>
                <a:latin typeface="Calibri"/>
              </a:rPr>
              <a:t>▸ </a:t>
            </a:r>
            <a:r>
              <a:rPr sz="1200">
                <a:solidFill>
                  <a:srgbClr val="BEC3D2"/>
                </a:solidFill>
                <a:latin typeface="Calibri"/>
              </a:rPr>
              <a:t>Scheduling conflicts with overlapping appointments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F3278"/>
                </a:solidFill>
                <a:latin typeface="Calibri"/>
              </a:rPr>
              <a:t>▸ </a:t>
            </a:r>
            <a:r>
              <a:rPr sz="1200">
                <a:solidFill>
                  <a:srgbClr val="BEC3D2"/>
                </a:solidFill>
                <a:latin typeface="Calibri"/>
              </a:rPr>
              <a:t>Lost or misplaced paper prescriptions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F3278"/>
                </a:solidFill>
                <a:latin typeface="Calibri"/>
              </a:rPr>
              <a:t>▸ </a:t>
            </a:r>
            <a:r>
              <a:rPr sz="1200">
                <a:solidFill>
                  <a:srgbClr val="BEC3D2"/>
                </a:solidFill>
                <a:latin typeface="Calibri"/>
              </a:rPr>
              <a:t>No real-time doctor availability for patients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F3278"/>
                </a:solidFill>
                <a:latin typeface="Calibri"/>
              </a:rPr>
              <a:t>▸ </a:t>
            </a:r>
            <a:r>
              <a:rPr sz="1200">
                <a:solidFill>
                  <a:srgbClr val="BEC3D2"/>
                </a:solidFill>
                <a:latin typeface="Calibri"/>
              </a:rPr>
              <a:t>Time-consuming manual record management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FF3278"/>
                </a:solidFill>
                <a:latin typeface="Calibri"/>
              </a:rPr>
              <a:t>▸ </a:t>
            </a:r>
            <a:r>
              <a:rPr sz="1200">
                <a:solidFill>
                  <a:srgbClr val="BEC3D2"/>
                </a:solidFill>
                <a:latin typeface="Calibri"/>
              </a:rPr>
              <a:t>Difficulty tracking patient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1E"/>
                </a:solidFill>
                <a:latin typeface="Consolas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A"/>
                </a:solidFill>
                <a:latin typeface="Consolas"/>
              </a:defRPr>
            </a:pPr>
            <a:r>
              <a:t>ABSTRACT - OUR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36576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728655" cy="1188720"/>
          </a:xfrm>
          <a:prstGeom prst="rect">
            <a:avLst/>
          </a:prstGeom>
          <a:solidFill>
            <a:srgbClr val="0F281E"/>
          </a:solidFill>
          <a:ln w="1270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A"/>
                </a:solidFill>
                <a:latin typeface="Calibri"/>
              </a:defRPr>
            </a:pPr>
            <a:r>
              <a:t>MediCare is a console-based, menu-driven application that digitizes hospital appointment booking and prescription management. Built with Java 17 and MongoDB Atlas, it enables doctors to publish time slots, patients to book appointments in real-time, and generates digital prescriptions — all within a strict modular, layered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82"/>
                </a:solidFill>
                <a:latin typeface="Consolas"/>
              </a:defRPr>
            </a:pPr>
            <a:r>
              <a:t>// CORE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8154" y="2926080"/>
            <a:ext cx="2468880" cy="1371600"/>
          </a:xfrm>
          <a:prstGeom prst="rect">
            <a:avLst/>
          </a:prstGeom>
          <a:solidFill>
            <a:srgbClr val="1C1C30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154" y="2926080"/>
            <a:ext cx="2468880" cy="54864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CFF"/>
                </a:solidFill>
                <a:latin typeface="Consolas"/>
              </a:defRPr>
            </a:pPr>
            <a:r>
              <a:t>Appointment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314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Browse doctors, check slots,</a:t>
            </a:r>
            <a:br/>
            <a:r>
              <a:t>book &amp; cancel appointments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323" y="2926080"/>
            <a:ext cx="2468880" cy="1371600"/>
          </a:xfrm>
          <a:prstGeom prst="rect">
            <a:avLst/>
          </a:prstGeom>
          <a:solidFill>
            <a:srgbClr val="1C1C30"/>
          </a:solidFill>
          <a:ln w="1270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323" y="2926080"/>
            <a:ext cx="2468880" cy="54864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7483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82"/>
                </a:solidFill>
                <a:latin typeface="Consolas"/>
              </a:defRPr>
            </a:pPr>
            <a:r>
              <a:t>Doctor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483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Publish availability, manage</a:t>
            </a:r>
            <a:br/>
            <a:r>
              <a:t>schedules &amp; patient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2" y="2926080"/>
            <a:ext cx="2468880" cy="1371600"/>
          </a:xfrm>
          <a:prstGeom prst="rect">
            <a:avLst/>
          </a:prstGeom>
          <a:solidFill>
            <a:srgbClr val="1C1C30"/>
          </a:solidFill>
          <a:ln w="1270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2" y="2926080"/>
            <a:ext cx="2468880" cy="54864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9652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032"/>
                </a:solidFill>
                <a:latin typeface="Consolas"/>
              </a:defRPr>
            </a:pPr>
            <a:r>
              <a:t>Prescription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9652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Digital prescriptions linked</a:t>
            </a:r>
            <a:br/>
            <a:r>
              <a:t>to completed appointments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4660" y="2926080"/>
            <a:ext cx="2468880" cy="1371600"/>
          </a:xfrm>
          <a:prstGeom prst="rect">
            <a:avLst/>
          </a:prstGeom>
          <a:solidFill>
            <a:srgbClr val="1C1C30"/>
          </a:solidFill>
          <a:ln w="1270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4660" y="2926080"/>
            <a:ext cx="2468880" cy="54864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1820" y="3063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50FF"/>
                </a:solidFill>
                <a:latin typeface="Consolas"/>
              </a:defRPr>
            </a:pPr>
            <a:r>
              <a:t>User Auth &amp;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1820" y="3429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Secure login, role-based access</a:t>
            </a:r>
            <a:br/>
            <a:r>
              <a:t>for Doctors &amp;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CFF"/>
                </a:solidFill>
                <a:latin typeface="Consolas"/>
              </a:defRPr>
            </a:pPr>
            <a:r>
              <a:t>// HOW IT 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61007" y="4937760"/>
            <a:ext cx="640080" cy="64008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6100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0855" y="5166360"/>
            <a:ext cx="146304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952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06927" y="4937760"/>
            <a:ext cx="640080" cy="64008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692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6775" y="5166360"/>
            <a:ext cx="146304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544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2847" y="4937760"/>
            <a:ext cx="640080" cy="64008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284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5166360"/>
            <a:ext cx="146304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4136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Browse</a:t>
            </a:r>
            <a:br/>
            <a:r>
              <a:t>Doctors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98767" y="4937760"/>
            <a:ext cx="640080" cy="64008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876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68615" y="5166360"/>
            <a:ext cx="146304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728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Book</a:t>
            </a:r>
            <a:br/>
            <a:r>
              <a:t>Slot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4687" y="4937760"/>
            <a:ext cx="640080" cy="640080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468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14535" y="5166360"/>
            <a:ext cx="146304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3320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Consult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90607" y="4937760"/>
            <a:ext cx="640080" cy="640080"/>
          </a:xfrm>
          <a:prstGeom prst="rect">
            <a:avLst/>
          </a:prstGeom>
          <a:solidFill>
            <a:srgbClr val="FFE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90607" y="4983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21E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127" y="5669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EC3D2"/>
                </a:solidFill>
                <a:latin typeface="Calibri"/>
              </a:defRPr>
            </a:pPr>
            <a:r>
              <a:t>Prescribe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1E"/>
                </a:solidFill>
                <a:latin typeface="Consolas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A"/>
                </a:solidFill>
                <a:latin typeface="Consolas"/>
              </a:defRPr>
            </a:pPr>
            <a:r>
              <a:t>ARCHITECTURE &amp;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36576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50FF"/>
                </a:solidFill>
                <a:latin typeface="Consolas"/>
              </a:defRPr>
            </a:pPr>
            <a:r>
              <a:t>// LAYERED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475488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44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UI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733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onsolas"/>
              </a:defRPr>
            </a:pPr>
            <a:r>
              <a:t>Main.java - Menu-driven console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920240"/>
            <a:ext cx="36576" cy="91440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29968"/>
            <a:ext cx="475488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29968"/>
            <a:ext cx="54864" cy="50292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2"/>
                </a:solidFill>
                <a:latin typeface="Consolas"/>
              </a:defRPr>
            </a:pPr>
            <a:r>
              <a:t>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860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onsolas"/>
              </a:defRPr>
            </a:pPr>
            <a:r>
              <a:t>Business logic &amp;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532888"/>
            <a:ext cx="36576" cy="91440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42616"/>
            <a:ext cx="475488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42616"/>
            <a:ext cx="54864" cy="50292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32"/>
                </a:solidFill>
                <a:latin typeface="Consolas"/>
              </a:defRPr>
            </a:pPr>
            <a:r>
              <a:t>Repository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8986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onsolas"/>
              </a:defRPr>
            </a:pPr>
            <a:r>
              <a:t>Raw MongoDB CRUD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145536"/>
            <a:ext cx="36576" cy="91440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55264"/>
            <a:ext cx="475488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55264"/>
            <a:ext cx="54864" cy="50292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282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50FF"/>
                </a:solidFill>
                <a:latin typeface="Consolas"/>
              </a:defRPr>
            </a:pPr>
            <a:r>
              <a:t>Connection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112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onsolas"/>
              </a:defRPr>
            </a:pPr>
            <a:r>
              <a:t>Singleton MongoDB Atlas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CFF"/>
                </a:solidFill>
                <a:latin typeface="Consolas"/>
              </a:defRPr>
            </a:pPr>
            <a:r>
              <a:t>// TECH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417320"/>
            <a:ext cx="502920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417320"/>
            <a:ext cx="54864" cy="50292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4447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032"/>
                </a:solidFill>
                <a:latin typeface="Consolas"/>
              </a:defRPr>
            </a:pPr>
            <a:r>
              <a:t>Java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6733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alibri"/>
              </a:defRPr>
            </a:pPr>
            <a:r>
              <a:t>LTS / Strong type safety / Platform independent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29968"/>
            <a:ext cx="502920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029968"/>
            <a:ext cx="54864" cy="50292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2"/>
                </a:solidFill>
                <a:latin typeface="Consolas"/>
              </a:defRPr>
            </a:pPr>
            <a:r>
              <a:t>MongoDB Atlas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alibri"/>
              </a:defRPr>
            </a:pPr>
            <a:r>
              <a:t>Cloud NoSQL / Scalable / Built-in security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642616"/>
            <a:ext cx="502920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642616"/>
            <a:ext cx="54864" cy="502920"/>
          </a:xfrm>
          <a:prstGeom prst="rect">
            <a:avLst/>
          </a:prstGeom>
          <a:solidFill>
            <a:srgbClr val="A0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26700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50FF"/>
                </a:solidFill>
                <a:latin typeface="Consolas"/>
              </a:defRPr>
            </a:pPr>
            <a:r>
              <a:t>Apache Maven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898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alibri"/>
              </a:defRPr>
            </a:pPr>
            <a:r>
              <a:t>Build automation / Dependency management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55264"/>
            <a:ext cx="5029200" cy="502920"/>
          </a:xfrm>
          <a:prstGeom prst="rect">
            <a:avLst/>
          </a:prstGeom>
          <a:solidFill>
            <a:srgbClr val="1C1C30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255264"/>
            <a:ext cx="54864" cy="5029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CFF"/>
                </a:solidFill>
                <a:latin typeface="Consolas"/>
              </a:defRPr>
            </a:pPr>
            <a:r>
              <a:t>Git &amp; 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5112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alibri"/>
              </a:defRPr>
            </a:pPr>
            <a:r>
              <a:t>Version control / Branching strategy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114800"/>
            <a:ext cx="10728655" cy="36576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032"/>
                </a:solidFill>
                <a:latin typeface="Consolas"/>
              </a:defRPr>
            </a:pPr>
            <a:r>
              <a:t>// DATA MODELS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8047" y="4617720"/>
            <a:ext cx="1920240" cy="1645920"/>
          </a:xfrm>
          <a:prstGeom prst="rect">
            <a:avLst/>
          </a:prstGeom>
          <a:solidFill>
            <a:srgbClr val="1C1C30"/>
          </a:solidFill>
          <a:ln w="63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8047" y="4617720"/>
            <a:ext cx="1920240" cy="4572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199" y="470916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Consolas"/>
              </a:defRPr>
            </a:pPr>
            <a:r>
              <a:t>User.java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199" y="507492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5"/>
                </a:solidFill>
                <a:latin typeface="Calibri"/>
              </a:defRPr>
            </a:pPr>
            <a:r>
              <a:t>Abstract base</a:t>
            </a:r>
            <a:br/>
            <a:r>
              <a:t>ID, name, email, password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6887" y="4617720"/>
            <a:ext cx="1920240" cy="1645920"/>
          </a:xfrm>
          <a:prstGeom prst="rect">
            <a:avLst/>
          </a:prstGeom>
          <a:solidFill>
            <a:srgbClr val="1C1C30"/>
          </a:solidFill>
          <a:ln w="635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986887" y="4617720"/>
            <a:ext cx="1920240" cy="4572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0039" y="470916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82"/>
                </a:solidFill>
                <a:latin typeface="Consolas"/>
              </a:defRPr>
            </a:pPr>
            <a:r>
              <a:t>Doctor.java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0039" y="507492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5"/>
                </a:solidFill>
                <a:latin typeface="Calibri"/>
              </a:defRPr>
            </a:pPr>
            <a:r>
              <a:t>Extends User</a:t>
            </a:r>
            <a:br/>
            <a:r>
              <a:t>Appointment IDs list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35727" y="4617720"/>
            <a:ext cx="1920240" cy="1645920"/>
          </a:xfrm>
          <a:prstGeom prst="rect">
            <a:avLst/>
          </a:prstGeom>
          <a:solidFill>
            <a:srgbClr val="1C1C30"/>
          </a:solidFill>
          <a:ln w="635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35727" y="4617720"/>
            <a:ext cx="1920240" cy="45720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08879" y="470916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82"/>
                </a:solidFill>
                <a:latin typeface="Consolas"/>
              </a:defRPr>
            </a:pPr>
            <a:r>
              <a:t>Patient.java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08879" y="507492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5"/>
                </a:solidFill>
                <a:latin typeface="Calibri"/>
              </a:defRPr>
            </a:pPr>
            <a:r>
              <a:t>Extends User</a:t>
            </a:r>
            <a:br/>
            <a:r>
              <a:t>Appointment IDs list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84567" y="4617720"/>
            <a:ext cx="1920240" cy="1645920"/>
          </a:xfrm>
          <a:prstGeom prst="rect">
            <a:avLst/>
          </a:prstGeom>
          <a:solidFill>
            <a:srgbClr val="1C1C30"/>
          </a:solidFill>
          <a:ln w="635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84567" y="4617720"/>
            <a:ext cx="1920240" cy="4572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57719" y="470916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032"/>
                </a:solidFill>
                <a:latin typeface="Consolas"/>
              </a:defRPr>
            </a:pPr>
            <a:r>
              <a:t>Appointment.java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7719" y="507492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5"/>
                </a:solidFill>
                <a:latin typeface="Calibri"/>
              </a:defRPr>
            </a:pPr>
            <a:r>
              <a:t>ID, doctorId, patientId</a:t>
            </a:r>
            <a:br/>
            <a:r>
              <a:t>date, slot, 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33407" y="4617720"/>
            <a:ext cx="1920240" cy="1645920"/>
          </a:xfrm>
          <a:prstGeom prst="rect">
            <a:avLst/>
          </a:prstGeom>
          <a:solidFill>
            <a:srgbClr val="1C1C30"/>
          </a:solidFill>
          <a:ln w="6350">
            <a:solidFill>
              <a:srgbClr val="FF3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33407" y="4617720"/>
            <a:ext cx="1920240" cy="45720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6559" y="470916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3278"/>
                </a:solidFill>
                <a:latin typeface="Consolas"/>
              </a:defRPr>
            </a:pPr>
            <a:r>
              <a:t>Prescription.java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6559" y="5074920"/>
            <a:ext cx="17739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91A5"/>
                </a:solidFill>
                <a:latin typeface="Calibri"/>
              </a:defRPr>
            </a:pPr>
            <a:r>
              <a:t>ID, diagnosis, medicines</a:t>
            </a:r>
            <a:br/>
            <a:r>
              <a:t>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011680" cy="32004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121E"/>
                </a:solidFill>
                <a:latin typeface="Consolas"/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A"/>
                </a:solidFill>
                <a:latin typeface="Consolas"/>
              </a:defRPr>
            </a:pPr>
            <a:r>
              <a:t>WHY IT'S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0728655" cy="36576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3200400" cy="41148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16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C91A5"/>
                </a:solidFill>
                <a:latin typeface="Consolas"/>
              </a:defRPr>
            </a:pPr>
            <a: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88720"/>
            <a:ext cx="3200400" cy="411480"/>
          </a:xfrm>
          <a:prstGeom prst="rect">
            <a:avLst/>
          </a:prstGeom>
          <a:solidFill>
            <a:srgbClr val="3C141E"/>
          </a:solidFill>
          <a:ln w="6350">
            <a:solidFill>
              <a:srgbClr val="FF3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278"/>
                </a:solidFill>
                <a:latin typeface="Consolas"/>
              </a:defRPr>
            </a:pPr>
            <a:r>
              <a:t>BEFORE (Manual)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188720"/>
            <a:ext cx="3962095" cy="411480"/>
          </a:xfrm>
          <a:prstGeom prst="rect">
            <a:avLst/>
          </a:prstGeom>
          <a:solidFill>
            <a:srgbClr val="0F281E"/>
          </a:solidFill>
          <a:ln w="635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216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2"/>
                </a:solidFill>
                <a:latin typeface="Consolas"/>
              </a:defRPr>
            </a:pPr>
            <a:r>
              <a:t>AFTER (MediCare)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3200400" cy="45720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764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Appointment Booking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9164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764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Phone calls, walk-ins, 24+ day wait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9164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764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Real-time digital booking, instant confirmation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solidFill>
            <a:srgbClr val="23233A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267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Scheduling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19456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267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30% conflicts, double-bookings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19456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Zero conflicts, slot validation before booking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Prescriptions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69748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7706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15% lost, paper-based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69748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770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100% digital, linked to appointments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solidFill>
            <a:srgbClr val="23233A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273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Data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20040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273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Paper files, cabinets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20040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MongoDB Atlas cloud, 99.9% uptime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solidFill>
            <a:srgbClr val="1C1C30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776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70332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3776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Hospital hours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70332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3776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24/7 cloud access from anywhere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solidFill>
            <a:srgbClr val="23233A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A"/>
                </a:solidFill>
                <a:latin typeface="Consolas"/>
              </a:defRPr>
            </a:pPr>
            <a:r>
              <a:t>Record Tracking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206240"/>
            <a:ext cx="3200400" cy="457200"/>
          </a:xfrm>
          <a:prstGeom prst="rect">
            <a:avLst/>
          </a:prstGeom>
          <a:solidFill>
            <a:srgbClr val="32121C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278"/>
                </a:solidFill>
                <a:latin typeface="Calibri"/>
              </a:defRPr>
            </a:pPr>
            <a:r>
              <a:t>Manual search, lost files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206240"/>
            <a:ext cx="3962095" cy="457200"/>
          </a:xfrm>
          <a:prstGeom prst="rect">
            <a:avLst/>
          </a:prstGeom>
          <a:solidFill>
            <a:srgbClr val="0C2619"/>
          </a:solidFill>
          <a:ln w="6350">
            <a:solidFill>
              <a:srgbClr val="3C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42793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82"/>
                </a:solidFill>
                <a:latin typeface="Calibri"/>
              </a:defRPr>
            </a:pPr>
            <a:r>
              <a:t>Instant lookup, full patient 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632"/>
                </a:solidFill>
                <a:latin typeface="Consolas"/>
              </a:defRPr>
            </a:pPr>
            <a:r>
              <a:t>// IMPACT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8154" y="5394960"/>
            <a:ext cx="2468880" cy="1097280"/>
          </a:xfrm>
          <a:prstGeom prst="rect">
            <a:avLst/>
          </a:prstGeom>
          <a:solidFill>
            <a:srgbClr val="1C1C30"/>
          </a:solidFill>
          <a:ln w="12700">
            <a:solidFill>
              <a:srgbClr val="00E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82"/>
                </a:solidFill>
                <a:latin typeface="Consolas"/>
              </a:defRPr>
            </a:pPr>
            <a:r>
              <a:t>30%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9594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fewer scheduling</a:t>
            </a:r>
            <a:br/>
            <a:r>
              <a:t>conflicts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00323" y="5394960"/>
            <a:ext cx="2468880" cy="1097280"/>
          </a:xfrm>
          <a:prstGeom prst="rect">
            <a:avLst/>
          </a:prstGeom>
          <a:solidFill>
            <a:srgbClr val="1C1C30"/>
          </a:solidFill>
          <a:ln w="1270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91763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CFF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1763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digital prescription</a:t>
            </a:r>
            <a:br/>
            <a:r>
              <a:t>coverage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22492" y="5394960"/>
            <a:ext cx="2468880" cy="1097280"/>
          </a:xfrm>
          <a:prstGeom prst="rect">
            <a:avLst/>
          </a:prstGeom>
          <a:solidFill>
            <a:srgbClr val="1C1C30"/>
          </a:solidFill>
          <a:ln w="12700">
            <a:solidFill>
              <a:srgbClr val="FFA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3932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A032"/>
                </a:solidFill>
                <a:latin typeface="Consolas"/>
              </a:defRPr>
            </a:pPr>
            <a:r>
              <a:t>10x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13932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faster booking</a:t>
            </a:r>
            <a:br/>
            <a:r>
              <a:t>process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44660" y="5394960"/>
            <a:ext cx="2468880" cy="1097280"/>
          </a:xfrm>
          <a:prstGeom prst="rect">
            <a:avLst/>
          </a:prstGeom>
          <a:solidFill>
            <a:srgbClr val="1C1C30"/>
          </a:solidFill>
          <a:ln w="12700">
            <a:solidFill>
              <a:srgbClr val="A0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36100" y="5440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050FF"/>
                </a:solidFill>
                <a:latin typeface="Consolas"/>
              </a:defRPr>
            </a:pPr>
            <a:r>
              <a:t>24/7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610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cloud database</a:t>
            </a:r>
            <a:br/>
            <a:r>
              <a:t>availability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914400"/>
            <a:ext cx="6705295" cy="5029200"/>
          </a:xfrm>
          <a:prstGeom prst="rect">
            <a:avLst/>
          </a:prstGeom>
          <a:solidFill>
            <a:srgbClr val="1C1C30"/>
          </a:solidFill>
          <a:ln w="19050"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914400"/>
            <a:ext cx="6705295" cy="365760"/>
          </a:xfrm>
          <a:prstGeom prst="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024128"/>
            <a:ext cx="164592" cy="164592"/>
          </a:xfrm>
          <a:prstGeom prst="rect">
            <a:avLst/>
          </a:prstGeom>
          <a:solidFill>
            <a:srgbClr val="FF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7560" y="1024128"/>
            <a:ext cx="164592" cy="164592"/>
          </a:xfrm>
          <a:prstGeom prst="rect">
            <a:avLst/>
          </a:prstGeom>
          <a:solidFill>
            <a:srgbClr val="FFE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024128"/>
            <a:ext cx="164592" cy="164592"/>
          </a:xfrm>
          <a:prstGeom prst="rect">
            <a:avLst/>
          </a:prstGeom>
          <a:solidFill>
            <a:srgbClr val="00E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987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91A5"/>
                </a:solidFill>
                <a:latin typeface="Consolas"/>
              </a:defRPr>
            </a:pPr>
            <a:r>
              <a:t>session — medipresenter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CFF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560320"/>
            <a:ext cx="3962095" cy="36576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78892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E682"/>
                </a:solidFill>
                <a:latin typeface="Consolas"/>
              </a:defRPr>
            </a:pPr>
            <a:r>
              <a:t>Questions &amp;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E632"/>
                </a:solidFill>
                <a:latin typeface="Consolas"/>
              </a:defRPr>
            </a:pPr>
            <a:r>
              <a:t>&gt;&gt;&gt; medipresenter --status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82"/>
                </a:solidFill>
                <a:latin typeface="Consolas"/>
              </a:defRPr>
            </a:pPr>
            <a:r>
              <a:t>[OK] Presentation delivered successfully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82"/>
                </a:solidFill>
                <a:latin typeface="Consolas"/>
              </a:defRPr>
            </a:pPr>
            <a:r>
              <a:t>[OK] All modules demonstrated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CFF"/>
                </a:solidFill>
                <a:latin typeface="Consolas"/>
              </a:defRPr>
            </a:pPr>
            <a:r>
              <a:t>&gt;&gt;&gt; 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892040"/>
            <a:ext cx="4876495" cy="36576"/>
          </a:xfrm>
          <a:prstGeom prst="rect">
            <a:avLst/>
          </a:prstGeom>
          <a:solidFill>
            <a:srgbClr val="3C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5029200"/>
            <a:ext cx="670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A"/>
                </a:solidFill>
                <a:latin typeface="Calibri"/>
              </a:defRPr>
            </a:pPr>
            <a:r>
              <a:t>MediCare — Hospital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349240"/>
            <a:ext cx="670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CFF"/>
                </a:solidFill>
                <a:latin typeface="Calibri"/>
              </a:defRPr>
            </a:pPr>
            <a:r>
              <a:t>Prabhat Arora  |  Reg. No.: 06  |  AI/ML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6705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91A5"/>
                </a:solidFill>
                <a:latin typeface="Calibri"/>
              </a:defRPr>
            </a:pPr>
            <a:r>
              <a:t>Dept. of CSE  |  SRM University  |  Advanced Programming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